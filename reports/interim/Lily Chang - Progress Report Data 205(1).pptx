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Schibsted Grotesk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chibstedGrotesk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chibstedGrotesk-italic.fntdata"/><Relationship Id="rId14" Type="http://schemas.openxmlformats.org/officeDocument/2006/relationships/font" Target="fonts/SchibstedGrotesk-bold.fntdata"/><Relationship Id="rId16" Type="http://schemas.openxmlformats.org/officeDocument/2006/relationships/font" Target="fonts/SchibstedGrotes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63af2b7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63af2b7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3af2b7e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63af2b7e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644d199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644d199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63d3b4b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63d3b4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65ff61d3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65ff61d3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63af2b7e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63af2b7e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DDEA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Progress Report</a:t>
            </a:r>
            <a:endParaRPr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Lily Chang</a:t>
            </a:r>
            <a:endParaRPr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Data</a:t>
            </a:r>
            <a:endParaRPr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Noise Complaints - noise complaints in MoCo from 1989-2026</a:t>
            </a:r>
            <a:endParaRPr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65A7B"/>
              </a:buClr>
              <a:buSzPts val="1800"/>
              <a:buFont typeface="Schibsted Grotesk"/>
              <a:buChar char="-"/>
            </a:pPr>
            <a:r>
              <a:rPr lang="en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Used mutate to create a month variable</a:t>
            </a:r>
            <a:endParaRPr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65A7B"/>
              </a:buClr>
              <a:buSzPts val="1800"/>
              <a:buFont typeface="Schibsted Grotesk"/>
              <a:buChar char="-"/>
            </a:pPr>
            <a:r>
              <a:rPr lang="en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Used mutate and case_when to clean a variable with typos/repeated entries</a:t>
            </a:r>
            <a:endParaRPr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New Home </a:t>
            </a: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Builders</a:t>
            </a: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- Licenses given to build residential homes in MoCo</a:t>
            </a:r>
            <a:endParaRPr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65A7B"/>
              </a:buClr>
              <a:buSzPts val="1800"/>
              <a:buFont typeface="Schibsted Grotesk"/>
              <a:buChar char="-"/>
            </a:pPr>
            <a:r>
              <a:rPr lang="en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Removed some columns</a:t>
            </a:r>
            <a:endParaRPr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Department of Alcohol Beverage Services (ABS) Licensee Data - List of establishments licensed to sell alcohol in MoCo</a:t>
            </a:r>
            <a:endParaRPr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65A7B"/>
              </a:buClr>
              <a:buSzPts val="1800"/>
              <a:buFont typeface="Schibsted Grotesk"/>
              <a:buChar char="-"/>
            </a:pPr>
            <a:r>
              <a:rPr lang="en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Used mutate and case_when to clean a city variable due to several different typos </a:t>
            </a:r>
            <a:endParaRPr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Exploratory </a:t>
            </a: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Data</a:t>
            </a: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Analysis </a:t>
            </a:r>
            <a:endParaRPr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258308"/>
            <a:ext cx="6384900" cy="361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A3B"/>
              </a:buClr>
              <a:buSzPts val="1800"/>
              <a:buFont typeface="Schibsted Grotesk"/>
              <a:buChar char="●"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</a:t>
            </a: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horopleths </a:t>
            </a:r>
            <a:endParaRPr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465A7B"/>
              </a:buClr>
              <a:buSzPts val="1700"/>
              <a:buFont typeface="Schibsted Grotesk"/>
              <a:buChar char="-"/>
            </a:pPr>
            <a:r>
              <a:rPr lang="en" sz="1700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Which areas are hot-spots</a:t>
            </a:r>
            <a:endParaRPr sz="1700"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465A7B"/>
              </a:buClr>
              <a:buSzPts val="1700"/>
              <a:buFont typeface="Schibsted Grotesk"/>
              <a:buChar char="-"/>
            </a:pPr>
            <a:r>
              <a:rPr lang="en" sz="1700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Areas with more construction complaints and establishments that sell alcohol tend to have higher noise complaint counts, suggesting a relationship</a:t>
            </a:r>
            <a:endParaRPr sz="1700"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202A3B"/>
              </a:buClr>
              <a:buSzPts val="1700"/>
              <a:buFont typeface="Schibsted Grotesk"/>
              <a:buChar char="●"/>
            </a:pPr>
            <a:r>
              <a:rPr lang="en" sz="1700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My main takeaway</a:t>
            </a:r>
            <a:endParaRPr sz="1700"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465A7B"/>
              </a:buClr>
              <a:buSzPts val="1700"/>
              <a:buFont typeface="Schibsted Grotesk"/>
              <a:buChar char="-"/>
            </a:pPr>
            <a:r>
              <a:rPr lang="en" sz="1700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As seen in the choropleths, </a:t>
            </a:r>
            <a:r>
              <a:rPr lang="en" sz="1700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Bethesda and Silver Spring are consistently within the top zip codes with the highest counts across all of the datasets</a:t>
            </a:r>
            <a:endParaRPr sz="800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9292" r="8842" t="0"/>
          <a:stretch/>
        </p:blipFill>
        <p:spPr>
          <a:xfrm>
            <a:off x="4496900" y="68675"/>
            <a:ext cx="2231381" cy="1682125"/>
          </a:xfrm>
          <a:prstGeom prst="rect">
            <a:avLst/>
          </a:prstGeom>
          <a:noFill/>
          <a:ln cap="flat" cmpd="sng" w="9325">
            <a:solidFill>
              <a:srgbClr val="202A3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0" l="8260" r="9880" t="0"/>
          <a:stretch/>
        </p:blipFill>
        <p:spPr>
          <a:xfrm>
            <a:off x="6866762" y="88988"/>
            <a:ext cx="2177501" cy="1641500"/>
          </a:xfrm>
          <a:prstGeom prst="rect">
            <a:avLst/>
          </a:prstGeom>
          <a:noFill/>
          <a:ln cap="flat" cmpd="sng" w="93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5">
            <a:alphaModFix/>
          </a:blip>
          <a:srcRect b="0" l="9587" r="10522" t="0"/>
          <a:stretch/>
        </p:blipFill>
        <p:spPr>
          <a:xfrm>
            <a:off x="6866750" y="1870750"/>
            <a:ext cx="2177525" cy="16821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Exploratory </a:t>
            </a: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Data</a:t>
            </a: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Analysis 2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969325"/>
            <a:ext cx="8520600" cy="40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A3B"/>
              </a:buClr>
              <a:buSzPts val="1700"/>
              <a:buFont typeface="Schibsted Grotesk"/>
              <a:buChar char="●"/>
            </a:pPr>
            <a:r>
              <a:rPr lang="en" sz="1700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There were fewer complaints in 2024 due to leaf blowers, a possible </a:t>
            </a:r>
            <a:r>
              <a:rPr lang="en" sz="1700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explanation</a:t>
            </a:r>
            <a:r>
              <a:rPr lang="en" sz="1700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 is that the spike could stem from </a:t>
            </a:r>
            <a:r>
              <a:rPr lang="en" sz="1700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conflict within the community and not an overall increase in noise</a:t>
            </a:r>
            <a:endParaRPr sz="1700"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A3B"/>
              </a:buClr>
              <a:buSzPts val="1600"/>
              <a:buFont typeface="Schibsted Grotesk"/>
              <a:buChar char="●"/>
            </a:pPr>
            <a:r>
              <a:rPr lang="en" sz="1600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While noise complaints are increasing over </a:t>
            </a:r>
            <a:endParaRPr sz="1600"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time, it’s unlikely that Montgomery County actually</a:t>
            </a:r>
            <a:endParaRPr sz="1600"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got significantly louder in 2025.</a:t>
            </a:r>
            <a:endParaRPr sz="1600"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900" y="2361575"/>
            <a:ext cx="3704174" cy="2286000"/>
          </a:xfrm>
          <a:prstGeom prst="rect">
            <a:avLst/>
          </a:prstGeom>
          <a:noFill/>
          <a:ln cap="flat" cmpd="sng" w="9525">
            <a:solidFill>
              <a:srgbClr val="202A3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5375" y="3467322"/>
            <a:ext cx="2567850" cy="1584725"/>
          </a:xfrm>
          <a:prstGeom prst="rect">
            <a:avLst/>
          </a:prstGeom>
          <a:noFill/>
          <a:ln cap="flat" cmpd="sng" w="9325">
            <a:solidFill>
              <a:srgbClr val="202A3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How does my EDA support my planned analyses and research goals.</a:t>
            </a:r>
            <a:endParaRPr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415958"/>
            <a:ext cx="8520600" cy="31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A7B"/>
              </a:buClr>
              <a:buSzPts val="1700"/>
              <a:buFont typeface="Schibsted Grotesk"/>
              <a:buChar char="●"/>
            </a:pPr>
            <a:r>
              <a:rPr lang="en" sz="1700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My target audience is people who are noise sensitive and might want advice on where they should live.</a:t>
            </a:r>
            <a:endParaRPr sz="1700"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65A7B"/>
              </a:buClr>
              <a:buSzPts val="1700"/>
              <a:buFont typeface="Schibsted Grotesk"/>
              <a:buChar char="-"/>
            </a:pPr>
            <a:r>
              <a:rPr lang="en" sz="1700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Silver Spring and Bethesda get more complaints, may want to avoid those areas</a:t>
            </a:r>
            <a:endParaRPr sz="1700"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rgbClr val="465A7B"/>
              </a:buClr>
              <a:buSzPts val="1700"/>
              <a:buFont typeface="Schibsted Grotesk"/>
              <a:buChar char="-"/>
            </a:pPr>
            <a:r>
              <a:rPr lang="en" sz="1700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They likely have higher complaint counts due to their proximity to D.C., population concentration, higher amounts of construction, and potentially nightlife.</a:t>
            </a:r>
            <a:endParaRPr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Next steps</a:t>
            </a:r>
            <a:endParaRPr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rgbClr val="202A3B"/>
              </a:buClr>
              <a:buSzPts val="1900"/>
              <a:buFont typeface="Schibsted Grotesk"/>
              <a:buChar char="●"/>
            </a:pPr>
            <a:r>
              <a:rPr lang="en" sz="1900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Start aligning my data with my research to make a cohesive narrative</a:t>
            </a:r>
            <a:endParaRPr sz="1900"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65A7B"/>
              </a:buClr>
              <a:buSzPts val="1800"/>
              <a:buFont typeface="Schibsted Grotesk"/>
              <a:buChar char="-"/>
            </a:pPr>
            <a:r>
              <a:rPr lang="en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Collect the pieces of my narrative and ensure it can be delivered within the time limit</a:t>
            </a:r>
            <a:endParaRPr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rgbClr val="202A3B"/>
              </a:buClr>
              <a:buSzPts val="1900"/>
              <a:buFont typeface="Schibsted Grotesk"/>
              <a:buChar char="●"/>
            </a:pPr>
            <a:r>
              <a:rPr lang="en" sz="1900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Look into mapping forecasted data to compare to current maps</a:t>
            </a:r>
            <a:endParaRPr sz="1900"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465A7B"/>
              </a:buClr>
              <a:buSzPts val="1800"/>
              <a:buFont typeface="Schibsted Grotesk"/>
              <a:buChar char="-"/>
            </a:pPr>
            <a:r>
              <a:rPr lang="en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I have already used ARIMA to forecast my data</a:t>
            </a:r>
            <a:endParaRPr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65A7B"/>
              </a:buClr>
              <a:buSzPts val="1800"/>
              <a:buFont typeface="Schibsted Grotesk"/>
              <a:buChar char="-"/>
            </a:pPr>
            <a:r>
              <a:rPr lang="en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When ran on all of my data I get random walk</a:t>
            </a:r>
            <a:endParaRPr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65A7B"/>
              </a:buClr>
              <a:buSzPts val="1800"/>
              <a:buFont typeface="Schibsted Grotesk"/>
              <a:buChar char="-"/>
            </a:pPr>
            <a:r>
              <a:rPr lang="en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When ran on the stable parts of my data, I get a model that indicates a steady increase.</a:t>
            </a:r>
            <a:endParaRPr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Clr>
                <a:srgbClr val="202A3B"/>
              </a:buClr>
              <a:buSzPts val="1800"/>
              <a:buFont typeface="Schibsted Grotesk"/>
              <a:buChar char="●"/>
            </a:pPr>
            <a:r>
              <a:rPr lang="en">
                <a:solidFill>
                  <a:srgbClr val="202A3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Negative Binomial regression</a:t>
            </a:r>
            <a:endParaRPr>
              <a:solidFill>
                <a:srgbClr val="202A3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20">
                <a:solidFill>
                  <a:srgbClr val="465A7B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Thank you!</a:t>
            </a:r>
            <a:endParaRPr sz="3420">
              <a:solidFill>
                <a:srgbClr val="465A7B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